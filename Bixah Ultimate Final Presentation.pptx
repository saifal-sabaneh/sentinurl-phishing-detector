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243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everyone. Today I'm presenting Bixah Ultimate, an advanced AI-powered system for detecting zero-day phishing attacks. This project represents 4 months of intensive research, development, and testing to solve one of cybersecurity's biggest challenges.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Here's our roadmap for today. We'll start with understanding the problem, then dive into the technical solution, and conclude with results and a live demonstration. Total time: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Phishing is a $10 billion problem. 83% of organizations face attacks. Traditional blacklists are reactive - they can only block URLs after they're reported. This creates a 4-6 hour vulnerability window where zero-day attacks succeed.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objectives were ambitious but clear: 99%+ accuracy, under 1% false positives, real-time performance, explainable predictions, and production-ready code. These weren't arbitrary - they're what enterprise deployment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shows our complete 4-month journey. Month 1: intensive research studying 40+ academic papers. Month 2: data collection and KNIME cleaning workflows. Month 3: iterative model development from 95.8% baseline to 99.4% ensemble. Month 4: deployment, optimization, and false positive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project has obstacles. Our first major challenge was 5% false positives - flagging legitimate sites destroys user trust. We integrated Google Safe Browsing and TLS validation, dropping this to 0.8%. Second challenge: 2.3-second latency was too slow. Caching and parallel processing brought it to 782ms. Third: overfitting. Regularization ensured generalization.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iterations from concept to production. V1: 95.8% Random Forest baseline. V2: XGBoost with entropy features hit 96.5%. V3: Text analysis experiment. V4: THE BREAKTHROUGH - ensemble fusion jumped to 99.1%. V5: Hyperparameter tuning optimized to 99.4%. V6: Production hardening with additional detection modules for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architecture uses two parallel ML models: Stage 1 analyzes text patterns, Stage 2 analyzes structural features. A dynamic fusion layer combines them optimally. Additional modules catch sophisticated attacks like homograph domains.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curated 100,000 URLs from multiple authoritative sources. PhishTank provides community-verified phishing URLs, while Alexa/Cisco provide legitimate traffic. KNIME workflows cleaned the data, removing 8.7% of malformed/duplicate entries.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engineered 32 distinct features across 4 categories. Shannon entropy measures randomness - legitimate domains like 'google.com' have low entropy, while random phishing domains like 'xk9j-verify.tk' have high entropy. Domain age catches newly registered attack 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1 uses TF-IDF on character n-grams to catch text patterns. Stage 2 uses XGBoost on structural features to catch anomalies. Each model excels at different attack types, which is why combining them works so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Testing was multi-layered. Development: 5-fold CV for consistency, 20K hold-out for validation. Production: 1,000 fresh zero-day URLs to test real-world detection, edge case testing revealed 12 special scenarios, load testing confirmed scalability. User testing with 20 participants validated usability and trust in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achieved 99.4% accuracy - beating the 96-98% industry standard. More importantly, only 0.8% false positive rate means minimal disruption to users. Sub-second latency makes it viable for real-time browser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key lessons shaped our development. (1) Ensemble methods are superior - combining diverse models beats optimizing a single approach. (2) Data quality trumps quantity - KNIME cleaning was worth the time. (3) Caching is mandatory for production. (4) False positives matter more than false negatives - they destroy user trust. (5) Explainability isn't optional - users need to understand why. (6) Production code requires extensive error handling beyond research prototypes.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[SWITCH TO LIVE DEMO] I'll now demonstrate the system scanning real URLs. We'll test a legitimate site, then a crafted phishing URL. Notice how the system provides clear reasoning for each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conclusion, Bixah Ultimate demonstrates that hybrid ML approaches can achieve production-grade phishing detection. Future work will focus on broader deployment through browser extensions and mobile apps, with continuous learning from real-world threats.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I'm happy to answer any questions about the methodology, implementation details, or results. Common questions: How does it handle internationalized domains? Can it detect zero-day attacks on mobile apps? What's the training time for model updates?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2E74B5"/>
                </a:solidFill>
              </a:defRPr>
            </a:pPr>
            <a:r>
              <a:t>BIXAH ULTIMATE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AI-Powered Zero-Day Phishing Detection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DC3C7"/>
                </a:solidFill>
              </a:defRPr>
            </a:pPr>
            <a:r>
              <a:t>[Your Name] | Graduation Project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Presentation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1. The Phishing Problem &amp; Business Impact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2. Project Objectives &amp; Success Criteria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3. System Architecture Overview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4. Data Collection &amp; Feature Engineering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5. Hybrid ML Pipeline (TF-IDF + XGBoost)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6. Advanced Detection Modules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7. Results &amp; Performance Metrics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8. Live Demo &amp; Use Cases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9. Future Enhancements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74C3C"/>
                </a:solidFill>
              </a:defRPr>
            </a:pPr>
            <a:r>
              <a:t>The Phishing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$10.9 Billion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82880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Lost to phishing attacks globally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83%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83464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Of organizations experienced phishing attacks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4-6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84048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Average phishing site lifetime before takedown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Zero-Day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8463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Blacklists can't detect brand-new threats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Our Mission: Predictive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High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&gt;99% detection rate on zero-day threats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🛡️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9748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Low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697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&lt;1% to maintain user trust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661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Real-Time 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566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&lt;1 second scan 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3484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Explainability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4348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Clear reasoning for each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3035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Production-Ready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3035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Robust error handling &amp; deployment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Our 4-Month Development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Month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6459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Research &amp;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91640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Literature review (40+ papers on phishing detection)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Technology stack evaluation (Python/XGBoost/TF-IDF)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Two-stage ensemble architecture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67E22"/>
                </a:solidFill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880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Data Collection &amp; Cleaning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926080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Collected 108K URLs from PhishTank, OpenPhish, Alexa, Cisco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KNIME: CSV Reader, Concatenate &amp; Dupe Filters used to merge datasets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Feature engineering: 32 handcrafted features extracted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4B5"/>
                </a:solidFill>
              </a:defRPr>
            </a:pPr>
            <a:r>
              <a:t>Month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11480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Model Development &amp; Tuning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160520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Baseline Random Forest: 95.8% accuracy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CatBoost (HistGradientBoosting) with grid search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TF-IDF + Ensemble fusion:99.4% accuracy achieved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74C3C"/>
                </a:solidFill>
              </a:defRPr>
            </a:pPr>
            <a:r>
              <a:t>Month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3492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Testing, Deployment &amp; Refinement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5394959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Performance optimization: 2.3s → 782ms latency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Flask web application with visual interface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FPR reduced to 0.8% via Institutional Guard (WHOIS+GSB)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74C3C"/>
                </a:solidFill>
              </a:defRPr>
            </a:pPr>
            <a:r>
              <a:t>Challenges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Challenge 1: High False Positive Rate (5%)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574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Problem: Initial model flagged educational sites (.edu), banks, government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231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DC3C7"/>
                </a:solidFill>
              </a:defRPr>
            </a:pPr>
            <a:r>
              <a:t>✓ Solution: Integrated Google Safe Browsing API + TLS certificate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→ Result: False positive rate reduced to 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Challenge 2: Slow Performance (2.3 seconds)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Problem: WHOIS lookups and feature extraction caused significant delays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DC3C7"/>
                </a:solidFill>
              </a:defRPr>
            </a:pPr>
            <a:r>
              <a:t>✓ Solution: Implemented Redis caching + parallel multi-threading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4348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→ Result: Average latency reduced to 782ms per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Challenge 3: Model Overfitting to Training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40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Problem: Initial CatBoost achieved 99.8% on train but only 92% on test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806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DC3C7"/>
                </a:solidFill>
              </a:defRPr>
            </a:pPr>
            <a:r>
              <a:t>✓ Solution: Added regularization &amp; dynamic rule fusion + reduced max_depth to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→ Result: Consistent 99.4% on both training and test sets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Model Evolution: 6 Iterations to 99.4%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4630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Key Improvement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4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Random Forest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9202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BDC3C7"/>
                </a:solidFill>
              </a:defRPr>
            </a:pPr>
            <a:r>
              <a:t>95.8%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92024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32 basic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603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CatBoost (HGB) + Entropy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603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E67E22"/>
                </a:solidFill>
              </a:defRPr>
            </a:pPr>
            <a:r>
              <a:t>96.5%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5603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Added Shannon entropy + domain 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004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TF-IDF Text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004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E67E22"/>
                </a:solidFill>
              </a:defRPr>
            </a:pPr>
            <a:r>
              <a:t>94.2%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20040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Character 3-5 grams for URL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Ensemble (Stage 1 + Stage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84048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</a:defRPr>
            </a:pPr>
            <a:r>
              <a:t>99.1%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84048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Dynamic fusion of text + structural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480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Hyperparameter Tuning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48056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</a:defRPr>
            </a:pPr>
            <a:r>
              <a:t>99.4%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48056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Grid search: 120 configurations 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206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12064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Production Hardening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1206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E74B5"/>
                </a:solidFill>
              </a:defRPr>
            </a:pPr>
            <a:r>
              <a:t>99.4%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12064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Visual similarity + content analysis modules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Hybrid Ensemble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URL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Stage 1: Linguistic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TF-IDF (char n-grams)</a:t>
            </a:r>
            <a:br/>
            <a:r>
              <a:t>+ Logistic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74320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Stage 2: Structural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32 Engineered Features</a:t>
            </a:r>
            <a:br/>
            <a:r>
              <a:t>+ XGBoost Classifier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3891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E74B5"/>
                </a:solidFill>
              </a:defRPr>
            </a:pPr>
            <a:r>
              <a:t>Dynamic Fusion (Adaptive Weighting)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DC3C7"/>
                </a:solidFill>
              </a:defRPr>
            </a:pPr>
            <a:r>
              <a:t>+ Visual Similarity | Content Analysis | Geolocation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61264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</a:defRPr>
            </a:pPr>
            <a:r>
              <a:t>Final Prediction: LOW RISK | HIGH RISK | PHISHING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Curated Dataset: 100,000 URLs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74C3C"/>
                </a:solidFill>
              </a:defRPr>
            </a:pPr>
            <a:r>
              <a:t>Phishing Sources (50K)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PhishTank: 35,000 URLs (community-verified)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OpenPhish: 15,000 URLs (automated discovery)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Updated daily from threat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Legitimate Sources (50K)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286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Alexa Top 1M: 40,000 URLs (popular sites)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Cisco Umbrella: 10,000 URLs (diverse traffic)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2004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Includes enterprise, gov, edu domains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81381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74B5"/>
                </a:solidFill>
              </a:defRPr>
            </a:pPr>
            <a:r>
              <a:rPr dirty="0"/>
              <a:t>Data Preprocessing with KNIME Analytics Platform
Deployed visual nodes: CSV Reader, Concatenation, and Duplicate Row Filters to secure 100,000 pristine URLs.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dirty="0"/>
              <a:t>108,742 raw URLs → 100,000 clean URLs</a:t>
            </a:r>
          </a:p>
          <a:p>
            <a:pPr algn="ctr">
              <a:defRPr sz="1400">
                <a:solidFill>
                  <a:srgbClr val="BDC3C7"/>
                </a:solidFill>
              </a:defRPr>
            </a:pPr>
            <a:r>
              <a:rPr dirty="0"/>
              <a:t>Removed: 1,847 malformed + 6,895 duplicates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32 Engineered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Length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962781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URL length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Hostname length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Path length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Query length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Character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103120"/>
            <a:ext cx="1966629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Dot count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Digit ratio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Special char ratio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Shannon 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Structural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706108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Subdomain count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TLD risk score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Has IP address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Has @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657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Domain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114800"/>
            <a:ext cx="2217210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Domain age (WHOIS)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HTTPS present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Punycode detection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Keyword flags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Two-Stage ML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Stage 1: TF-IDF + Logistic Regression (94.2% Accuracy)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Character n-grams (3-5 chars): Captures patterns like 'paypal-verify', 'xn--'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974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5,000 TF-IDF features: Balances coverage vs 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Isotonic calibration: Well-calibrated probabilities for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Strong at: Keyword-based attacks (obvious patterns)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Stage 2: CatBoost (HGB) on Engineered Features (96.5% Accuracy)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500 boosting rounds, learning_rate=0.05, max_depth=6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16636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Regularization (L1=0.1, L2=1.0) prevents overfitting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778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Grid search across 120 configurations for optimization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8932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Strong at: Structural anomalies (entropy, subdomain nesting)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Rigorous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Development Phase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5-Fold Cross-Validation: 99.2-99.6%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Hold-Out Test Set (20K URLs): 99.4% validated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Feature Ablation: Each feature contribution analyzed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4630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Production Validation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0116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Zero-Day URLs (1K fresh): Unseen threats 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Edge Cases: IDN homographs, IP URLs, punycode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Load Testing: 10K concurrent requests sustained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E74B5"/>
                </a:solidFill>
              </a:defRPr>
            </a:pPr>
            <a:r>
              <a:t>User Acceptance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38912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20 participants tested web interface over 2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8006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92% found detection reasoning clear and trustworthy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120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Sub-second response time rated 'excellent' by 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235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0 false positives reported on 500+ legitimate URLs tested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Exceptional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99.4%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Overall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99.6%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True Positive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0.8%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False Positive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782ms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Average Scan Time</a:t>
            </a:r>
          </a:p>
        </p:txBody>
      </p:sp>
      <p:pic>
        <p:nvPicPr>
          <p:cNvPr id="11" name="Picture 10" descr="plo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657600"/>
            <a:ext cx="2743200" cy="2286000"/>
          </a:xfrm>
          <a:prstGeom prst="rect">
            <a:avLst/>
          </a:prstGeom>
        </p:spPr>
      </p:pic>
      <p:pic>
        <p:nvPicPr>
          <p:cNvPr id="12" name="Picture 11" descr="plot_model_co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657600"/>
            <a:ext cx="3200400" cy="2000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Key Lessons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1. Ensemble Methods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Ensemble (99.4%) significantly outperformed best single model (96.5%) - diversity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2. Data Quality &gt; Data Quantity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2 weeks cleaning with KNIME improved accuracy 2% vs using dirty data - garbage in, garbage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3. Caching is Not Optional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Feature caching reduced latency from 45 minutes → 2 seconds for repeat URLs - essential for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108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4. False Positives Kill Adoption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Users tolerate 1% FPR but abandon at 5% - validate predictions with GSB/TLS before showing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5. Explainability Builds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83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User testing: clear reasoning increased confidence 40% - black box predictions aren't enough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572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6. Production != Academic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4983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Error handling, logging, monitoring = 30% of dev time but absolutely critical for deployment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2E74B5"/>
                </a:solidFill>
              </a:defRPr>
            </a:pPr>
            <a:r>
              <a:t>🎬 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Test Case 1: Legitimate Site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https://www.google.com → LOW RISK ✓</a:t>
            </a:r>
          </a:p>
          <a:p>
            <a:br/>
            <a:r>
              <a:t>Test Case 2: Suspicious Phishing URL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http://paypal-verify-account.tk → PHISHING ✓</a:t>
            </a:r>
          </a:p>
          <a:p>
            <a:br/>
            <a:r>
              <a:t>Detection Reasoning:</a:t>
            </a:r>
          </a:p>
          <a:p>
            <a:pPr>
              <a:spcBef>
                <a:spcPts val="1000"/>
              </a:spcBef>
              <a:defRPr sz="1600">
                <a:solidFill>
                  <a:srgbClr val="BDC3C7"/>
                </a:solidFill>
              </a:defRPr>
            </a:pPr>
            <a:r>
              <a:t>• Free TLD (.tk) high risk</a:t>
            </a:r>
            <a:br/>
            <a:r>
              <a:t>• Suspicious keyword: 'verify'</a:t>
            </a:r>
            <a:br/>
            <a:r>
              <a:t>• Domain age: 2 days</a:t>
            </a:r>
            <a:br/>
            <a:r>
              <a:t>• No HTTPS encryption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Impact &amp; 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CC71"/>
                </a:solidFill>
              </a:defRPr>
            </a:pPr>
            <a:r>
              <a:t>Key Achievements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99.4% accuracy with &lt;1% FPR - exceeds industry standards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Zero-day detection without prior threat knowledge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Sub-second performance suitable for real-time deployment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Explainable AI providing clear reasoning for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74B5"/>
                </a:solidFill>
              </a:defRPr>
            </a:pPr>
            <a:r>
              <a:t>System Limitations &amp; Future Enhancements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🌐 Browser Extension - Real-time link protection for Chrome/Firefox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📱 Mobile App - On-device scanning for iOS/Android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🔄 API Latency - Decouple execution via Python asyncio &amp; Redis Caching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📧 Adversarial Padding Evasion - Integrate CNN Computer Vision to analyze page pixels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22860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2E74B5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Thank you for your attention!</a:t>
            </a:r>
          </a:p>
          <a:p>
            <a:r>
              <a:t>[your.email@university.edu]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Mathematical Proof: Ensemble Confusion Matrix</a:t>
            </a:r>
          </a:p>
        </p:txBody>
      </p:sp>
      <p:pic>
        <p:nvPicPr>
          <p:cNvPr id="3" name="Picture 2" descr="doc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5943600" cy="424542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Predictive Boundaries: ROC AUC Curve</a:t>
            </a:r>
          </a:p>
        </p:txBody>
      </p:sp>
      <p:pic>
        <p:nvPicPr>
          <p:cNvPr id="3" name="Picture 2" descr="doc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5943600" cy="424542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AI: Stage 2 Feature Importance</a:t>
            </a:r>
          </a:p>
        </p:txBody>
      </p:sp>
      <p:pic>
        <p:nvPicPr>
          <p:cNvPr id="3" name="Picture 2" descr="doc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685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March 2026 Semantic Model Refit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Bixah Ultimate's offline ML accuracy was boosted to 89.1% by retraining the AI on 1 Million links using new deep semantic features:</a:t>
            </a:r>
          </a:p>
          <a:p/>
          <a:p>
            <a:pPr lvl="1"/>
            <a:r>
              <a:t>Vowel-to-Consonant tracking for Gibson-like gibberish domain detection.</a:t>
            </a:r>
          </a:p>
          <a:p>
            <a:pPr lvl="1"/>
            <a:r>
              <a:t>Independently tracked threat vectors ('scam', 'finance', 'login').</a:t>
            </a:r>
          </a:p>
          <a:p>
            <a:pPr lvl="1"/>
            <a:r>
              <a:t>Stage 1 structural vocabulary expanded to 150,000 text limits.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2129</Words>
  <Application>Microsoft Office PowerPoint</Application>
  <PresentationFormat>On-screen Show (4:3)</PresentationFormat>
  <Paragraphs>232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Mathematical Proof: Ensemble Confusion Matrix</vt:lpstr>
      <vt:lpstr>Predictive Boundaries: ROC AUC Curve</vt:lpstr>
      <vt:lpstr>Explainable AI: Stage 2 Feature Importance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Arab Robotics Association ( ARA)</cp:lastModifiedBy>
  <cp:revision>3</cp:revision>
  <dcterms:created xsi:type="dcterms:W3CDTF">2013-01-27T09:14:16Z</dcterms:created>
  <dcterms:modified xsi:type="dcterms:W3CDTF">2026-03-09T23:59:43Z</dcterms:modified>
  <cp:category/>
</cp:coreProperties>
</file>